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4"/>
  </p:notesMasterIdLst>
  <p:handoutMasterIdLst>
    <p:handoutMasterId r:id="rId15"/>
  </p:handoutMasterIdLst>
  <p:sldIdLst>
    <p:sldId id="298" r:id="rId4"/>
    <p:sldId id="283" r:id="rId5"/>
    <p:sldId id="297" r:id="rId6"/>
    <p:sldId id="299" r:id="rId7"/>
    <p:sldId id="300" r:id="rId8"/>
    <p:sldId id="301" r:id="rId9"/>
    <p:sldId id="302" r:id="rId10"/>
    <p:sldId id="304" r:id="rId11"/>
    <p:sldId id="305" r:id="rId12"/>
    <p:sldId id="296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65" d="100"/>
          <a:sy n="65" d="100"/>
        </p:scale>
        <p:origin x="48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696519-77A5-42E9-9F7C-68841B76CE9F}" type="datetime1">
              <a:rPr lang="pt-BR" smtClean="0"/>
              <a:t>14/01/2026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01C0E-6041-40BD-877C-FB9FBD0CE1C9}" type="datetime1">
              <a:rPr lang="pt-BR" smtClean="0"/>
              <a:pPr/>
              <a:t>14/01/2026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01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120000"/>
              </a:lnSpc>
              <a:defRPr lang="en-ZA" sz="4400" b="1" spc="-300" dirty="0"/>
            </a:lvl1pPr>
          </a:lstStyle>
          <a:p>
            <a:pPr lvl="0" algn="r" rtl="0"/>
            <a:r>
              <a:rPr lang="pt-BR" dirty="0"/>
              <a:t>Clique para editar o título da apresentação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pt-BR" dirty="0"/>
              <a:t>Clique para editar o estilo de subtítulo Mestre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sor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</a:t>
            </a:r>
            <a:br>
              <a:rPr lang="pt-BR" dirty="0"/>
            </a:br>
            <a:r>
              <a:rPr lang="pt-BR" dirty="0"/>
              <a:t>sua Foto Aqui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pt-BR" dirty="0"/>
              <a:t>Clique para editar o divisor de seção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editar o estilo de subtítulo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2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Editar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Imagem de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39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mparação à Esquerda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2" name="Espaço Reservado para Comparação à Esquerda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dirty="0"/>
              <a:t>Insira sua legenda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ço Reservado para Imagem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pt-BR" dirty="0"/>
              <a:t>Insira ou Arraste e Solte sua Foto Aqui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pt-BR" dirty="0"/>
              <a:t>Obrigado</a:t>
            </a:r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Nome completo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Número do telefone</a:t>
            </a:r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0000"/>
              </a:lnSpc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Contato por </a:t>
            </a:r>
            <a:r>
              <a:rPr lang="pt-BR" dirty="0" err="1"/>
              <a:t>Email</a:t>
            </a:r>
            <a:r>
              <a:rPr lang="pt-BR" dirty="0"/>
              <a:t> ou Mídia Social</a:t>
            </a:r>
          </a:p>
        </p:txBody>
      </p:sp>
      <p:sp>
        <p:nvSpPr>
          <p:cNvPr id="12" name="Espaço Reservado para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Site da empresa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1" name="Espaço Reservado para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3" name="Espaço Reservado para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pt-BR" dirty="0"/>
              <a:t>Subtítulo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pt-BR" dirty="0"/>
              <a:t>Clique para editar o título da página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dirty="0"/>
              <a:t>Adicionar um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pt-BR" sz="2500" b="1" i="0" spc="-10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pt-BR" sz="1600" b="1" i="0" spc="-10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pt-BR" sz="1600" b="1" i="0" spc="-100" baseline="0" dirty="0">
                <a:solidFill>
                  <a:schemeClr val="accent1"/>
                </a:solidFill>
                <a:latin typeface="+mj-lt"/>
              </a:rPr>
            </a:br>
            <a:r>
              <a:rPr lang="pt-BR" sz="1200" b="0" i="0" spc="14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  <a:endParaRPr lang="pt-BR" sz="1200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Imagem 11" descr="Mãos unidas em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147" y="2811053"/>
            <a:ext cx="9008853" cy="1821332"/>
          </a:xfrm>
        </p:spPr>
        <p:txBody>
          <a:bodyPr rtlCol="0"/>
          <a:lstStyle/>
          <a:p>
            <a:pPr rtl="0">
              <a:lnSpc>
                <a:spcPct val="90000"/>
              </a:lnSpc>
            </a:pPr>
            <a:r>
              <a:rPr lang="pt-BR" sz="6000" dirty="0"/>
              <a:t>Como acessar os protocolos institucionais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575268"/>
            <a:ext cx="5472000" cy="2999426"/>
          </a:xfrm>
        </p:spPr>
        <p:txBody>
          <a:bodyPr rtlCol="0"/>
          <a:lstStyle/>
          <a:p>
            <a:pPr marL="0" indent="0">
              <a:buNone/>
            </a:pPr>
            <a:r>
              <a:rPr lang="pt-BR" sz="1400" dirty="0"/>
              <a:t>Olá! Seja muito bem-vindo(a) à nossa UTI.</a:t>
            </a:r>
          </a:p>
          <a:p>
            <a:pPr marL="0" indent="0">
              <a:buNone/>
            </a:pPr>
            <a:r>
              <a:rPr lang="pt-BR" sz="1400" dirty="0"/>
              <a:t>É uma grande satisfação recebê-lo(a) em nossa equipe. Ingressar em uma UTI vai muito além de assumir plantões: significa fazer parte de um time que trabalha de forma integrada, responsável e comprometida com o cuidado ao paciente crítico.</a:t>
            </a:r>
          </a:p>
          <a:p>
            <a:pPr marL="0" indent="0">
              <a:buNone/>
            </a:pPr>
            <a:r>
              <a:rPr lang="pt-BR" sz="1400" dirty="0"/>
              <a:t>Aqui, somos guiados por três valores fundamentais:</a:t>
            </a:r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Segurança</a:t>
            </a:r>
            <a:r>
              <a:rPr lang="pt-BR" sz="1400" dirty="0"/>
              <a:t> – A segurança do paciente e da equipe é inegociável. Valorizamos protocolos bem definidos, tomada de decisão baseada em evidência, comunicação clara e trabalho em equipe. Errar menos é resultado de processos bem construídos e de uma cultura aberta ao aprendizado.</a:t>
            </a:r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Ensino</a:t>
            </a:r>
            <a:r>
              <a:rPr lang="pt-BR" sz="1400" dirty="0"/>
              <a:t> – A UTI é um ambiente vivo de aprendizado contínuo. Estimulamos a troca de conhecimento, a discussão de casos, o questionamento técnico e o crescimento profissional de todos. Ensinar e aprender fazem parte da nossa rotina, independentemente do tempo de formação. Aqui você terá contato com residentes médicos e, em breve, residentes multiprofissionais e internos.</a:t>
            </a:r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Humanização</a:t>
            </a:r>
            <a:r>
              <a:rPr lang="pt-BR" sz="1400" dirty="0"/>
              <a:t> – Cuidamos de pessoas em momentos de extrema vulnerabilidade. Por isso, buscamos uma assistência técnica de excelência aliada ao olhar humano, ao respeito ao paciente, à família e entre nós, como equipe. Empatia, ética e comunicação fazem parte do nosso cuidado diário.</a:t>
            </a:r>
          </a:p>
          <a:p>
            <a:r>
              <a:rPr lang="pt-BR" sz="1400" dirty="0"/>
              <a:t>Esperamos que você se sinta acolhido(a), seguro(a) para contribuir, questionar e crescer conosco. Conte com a coordenação e com toda a equipe para o que precisar. Estamos felizes em tê-lo(a) conosco e confiantes de que sua presença agregará muito ao nosso time.</a:t>
            </a:r>
          </a:p>
          <a:p>
            <a:pPr marL="0" indent="0" rtl="0">
              <a:buNone/>
            </a:pPr>
            <a:endParaRPr lang="pt-BR" dirty="0"/>
          </a:p>
        </p:txBody>
      </p:sp>
      <p:pic>
        <p:nvPicPr>
          <p:cNvPr id="9" name="Espaço Reservado para Imagem 8" descr="Mão tocando celular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54649"/>
            <a:ext cx="6096000" cy="6371351"/>
          </a:xfrm>
        </p:spPr>
      </p:pic>
      <p:sp>
        <p:nvSpPr>
          <p:cNvPr id="20" name="Retângulo 19" descr="Bloco em destaque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sz="6000" dirty="0"/>
              <a:t>Nossa UTI</a:t>
            </a: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 descr="Mão escrevendo anotação em post-it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tângulo 19" descr="Bloco em destaque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099" y="2061329"/>
            <a:ext cx="6641900" cy="1124345"/>
          </a:xfrm>
        </p:spPr>
        <p:txBody>
          <a:bodyPr rtlCol="0"/>
          <a:lstStyle/>
          <a:p>
            <a:pPr rtl="0"/>
            <a:r>
              <a:rPr lang="pt-BR" sz="6000" dirty="0"/>
              <a:t>Protocolos institucionais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pt-BR" dirty="0"/>
              <a:t>Desta maneira, conhecer e saber onde acessar os protocolos institucionais deve fazer parte de sua rotina.. </a:t>
            </a:r>
          </a:p>
          <a:p>
            <a:pPr rtl="0"/>
            <a:r>
              <a:rPr lang="pt-BR" dirty="0"/>
              <a:t>Eles ficam em uma plataforma chamada “INTERACT”, acessível por link direto dos desktops de todos os computadores.</a:t>
            </a:r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D68BEC6-9AD1-5496-4C47-929361A73BE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1018" r="11018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46EF8AF-13C2-57B5-4E0F-60FD1BCB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 INTERACT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F6E7111-63F6-4DA8-5D68-D27BF3DCC1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Você recebeu o login e senha para ela, junto com os logins e senhas dos outros sistemas utilizados aqui. Qualquer dúvida acionar o Relacionamento Médico (11)915431999 </a:t>
            </a:r>
          </a:p>
          <a:p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04F468-0DE9-91FA-F86B-95A6F1FB4FD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rtl="0"/>
            <a:r>
              <a:rPr lang="pt-BR"/>
              <a:t>Adicionar um rodapé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268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 descr="Interface gráfica do usuário, Aplicativo, Email&#10;&#10;O conteúdo gerado por IA pode estar incorreto.">
            <a:extLst>
              <a:ext uri="{FF2B5EF4-FFF2-40B4-BE49-F238E27FC236}">
                <a16:creationId xmlns:a16="http://schemas.microsoft.com/office/drawing/2014/main" id="{81686F79-A7BE-E6D8-DAF6-EBF401743F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5100" r="25100"/>
          <a:stretch>
            <a:fillRect/>
          </a:stretch>
        </p:blipFill>
        <p:spPr/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CF93B43-0CA0-E572-2D84-522BE5E868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Ao abrir o INTERACT, ir em “REPOSITÓRIO”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0388F4-25AB-6A87-AD76-F968EA207C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rtl="0"/>
            <a:r>
              <a:rPr lang="pt-BR"/>
              <a:t>Adicionar um rodapé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649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55A3-E295-2700-530C-ADEFF42E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071179F-6436-DCE7-204D-61B0CC9DE8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Em “REPOSITÓRIO” escolher “HRRB”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F560BD-DAD1-AA7D-62CB-3867E7E786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rtl="0"/>
            <a:r>
              <a:rPr lang="pt-BR"/>
              <a:t>Adicionar um rodapé</a:t>
            </a:r>
            <a:endParaRPr lang="pt-BR" dirty="0"/>
          </a:p>
        </p:txBody>
      </p:sp>
      <p:pic>
        <p:nvPicPr>
          <p:cNvPr id="8" name="Espaço Reservado para Imagem 7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4C21E67A-21FE-0D93-7874-81AD7BB7A1B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014" b="20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19776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C6C0-C241-8CD9-F1FB-86010BDA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Imagem 12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3B82E376-B688-4AD8-655E-835CFE99037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6806" r="23827" b="-1"/>
          <a:stretch>
            <a:fillRect/>
          </a:stretch>
        </p:blipFill>
        <p:spPr>
          <a:xfrm>
            <a:off x="20" y="-1"/>
            <a:ext cx="6095980" cy="6371351"/>
          </a:xfrm>
          <a:noFill/>
        </p:spPr>
      </p:pic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75AA1838-2D87-7F43-0AD8-A6FE57364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/>
          <a:p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“ASSISTENCIAIS”</a:t>
            </a:r>
          </a:p>
          <a:p>
            <a:r>
              <a:rPr lang="pt-BR" dirty="0"/>
              <a:t>Em “REPOSITÓRIO” escolher “HRRB” e depois “ASSISTENCIAIS”</a:t>
            </a:r>
          </a:p>
          <a:p>
            <a:r>
              <a:rPr lang="pt-BR" dirty="0"/>
              <a:t>Nesta sessão você encontrará não só protocolos, mas também POPS e outros documentos importantes. </a:t>
            </a:r>
          </a:p>
          <a:p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BE8A24-2E9B-152D-3DD8-6222437958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pt-BR"/>
              <a:t>Adicionar um rodapé</a:t>
            </a:r>
          </a:p>
        </p:txBody>
      </p:sp>
    </p:spTree>
    <p:extLst>
      <p:ext uri="{BB962C8B-B14F-4D97-AF65-F5344CB8AC3E}">
        <p14:creationId xmlns:p14="http://schemas.microsoft.com/office/powerpoint/2010/main" val="159326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B97C-D130-CD85-1786-1D1CD87B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68DA6130-1557-88AB-2E80-09823D31D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2180" y="3763648"/>
            <a:ext cx="5472000" cy="2428351"/>
          </a:xfrm>
        </p:spPr>
        <p:txBody>
          <a:bodyPr/>
          <a:lstStyle/>
          <a:p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“ASSISTENCIAIS”</a:t>
            </a:r>
          </a:p>
          <a:p>
            <a:r>
              <a:rPr lang="pt-BR" dirty="0"/>
              <a:t>Em “REPOSITÓRIO” escolher “HRRB” e depois “ASSISTENCIAIS”</a:t>
            </a:r>
          </a:p>
          <a:p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protocolos</a:t>
            </a:r>
            <a:r>
              <a:rPr lang="en-US" dirty="0"/>
              <a:t> </a:t>
            </a:r>
            <a:r>
              <a:rPr lang="en-US" dirty="0" err="1"/>
              <a:t>estarão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“</a:t>
            </a:r>
            <a:r>
              <a:rPr lang="en-US" dirty="0" err="1"/>
              <a:t>unidade</a:t>
            </a:r>
            <a:r>
              <a:rPr lang="en-US" dirty="0"/>
              <a:t> de </a:t>
            </a:r>
            <a:r>
              <a:rPr lang="en-US" dirty="0" err="1"/>
              <a:t>terapia</a:t>
            </a:r>
            <a:r>
              <a:rPr lang="en-US" dirty="0"/>
              <a:t> </a:t>
            </a:r>
            <a:r>
              <a:rPr lang="en-US" dirty="0" err="1"/>
              <a:t>intensiva</a:t>
            </a:r>
            <a:r>
              <a:rPr lang="en-US" dirty="0"/>
              <a:t>” </a:t>
            </a:r>
          </a:p>
          <a:p>
            <a:r>
              <a:rPr lang="pt-BR" dirty="0"/>
              <a:t>Em “REPOSITÓRIO” escolher “HRRB” e depois “unidade de terapia intensiva”</a:t>
            </a:r>
          </a:p>
          <a:p>
            <a:endParaRPr lang="en-US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5CB092-A0E6-8DAC-A57D-5ABFF6F912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pt-BR"/>
              <a:t>Adicionar um rodapé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20AA04-ADF8-E3FE-32E2-485E74C6C6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Imagem 12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767B20DF-D0F3-3BE4-65A8-4C95B02FD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" r="1447"/>
          <a:stretch/>
        </p:blipFill>
        <p:spPr>
          <a:xfrm>
            <a:off x="0" y="383"/>
            <a:ext cx="6632477" cy="63705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087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C8B73-D677-5F2D-DFDD-2D6EC07F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4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19DEC50D-A255-3B41-95A9-96765FAF26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2000" y="2462632"/>
            <a:ext cx="5472000" cy="3092400"/>
          </a:xfrm>
          <a:noFill/>
        </p:spPr>
      </p:pic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83B231A7-CDDE-BCCC-4B33-E98362AAC9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abrir</a:t>
            </a:r>
            <a:r>
              <a:rPr lang="en-US" dirty="0"/>
              <a:t> um </a:t>
            </a:r>
            <a:r>
              <a:rPr lang="en-US" dirty="0" err="1"/>
              <a:t>documento</a:t>
            </a:r>
            <a:r>
              <a:rPr lang="en-US" dirty="0"/>
              <a:t>, </a:t>
            </a:r>
            <a:r>
              <a:rPr lang="en-US" dirty="0" err="1"/>
              <a:t>dê</a:t>
            </a:r>
            <a:r>
              <a:rPr lang="en-US" dirty="0"/>
              <a:t> um “</a:t>
            </a:r>
            <a:r>
              <a:rPr lang="en-US" dirty="0" err="1"/>
              <a:t>duplo</a:t>
            </a:r>
            <a:r>
              <a:rPr lang="en-US" dirty="0"/>
              <a:t> clique” </a:t>
            </a:r>
            <a:r>
              <a:rPr lang="en-US" dirty="0" err="1"/>
              <a:t>nele</a:t>
            </a:r>
            <a:r>
              <a:rPr lang="en-US" dirty="0"/>
              <a:t> e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vá</a:t>
            </a:r>
            <a:r>
              <a:rPr lang="en-US" dirty="0"/>
              <a:t> (</a:t>
            </a:r>
            <a:r>
              <a:rPr lang="en-US" dirty="0" err="1"/>
              <a:t>na</a:t>
            </a:r>
            <a:r>
              <a:rPr lang="en-US" dirty="0"/>
              <a:t> barra 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direita</a:t>
            </a:r>
            <a:r>
              <a:rPr lang="en-US" dirty="0"/>
              <a:t>) </a:t>
            </a:r>
            <a:r>
              <a:rPr lang="en-US" dirty="0" err="1"/>
              <a:t>em</a:t>
            </a:r>
            <a:r>
              <a:rPr lang="en-US" dirty="0"/>
              <a:t> “DESCARREGAR”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F0A2AF-2F83-FC1A-4B9E-C9317BECC9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pt-BR"/>
              <a:t>Adicionar um rodapé</a:t>
            </a:r>
          </a:p>
        </p:txBody>
      </p:sp>
    </p:spTree>
    <p:extLst>
      <p:ext uri="{BB962C8B-B14F-4D97-AF65-F5344CB8AC3E}">
        <p14:creationId xmlns:p14="http://schemas.microsoft.com/office/powerpoint/2010/main" val="64597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spaço Reservado para Imagem 31" descr="mãos aplaudi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Obrigada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pt-BR" dirty="0" err="1"/>
              <a:t>Dra</a:t>
            </a:r>
            <a:r>
              <a:rPr lang="pt-BR" dirty="0"/>
              <a:t> Mariana V Monteiro</a:t>
            </a:r>
          </a:p>
        </p:txBody>
      </p:sp>
      <p:pic>
        <p:nvPicPr>
          <p:cNvPr id="8" name="Elemento gráfico 7" descr="Usuário" title="Ícone – Nome do Apresentador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 dirty="0"/>
              <a:t>11999711491</a:t>
            </a:r>
          </a:p>
        </p:txBody>
      </p:sp>
      <p:pic>
        <p:nvPicPr>
          <p:cNvPr id="10" name="Elemento gráfico 9" descr="Smartphone" title="Ícone – Número de Telefone do Apresentado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pt-BR" dirty="0"/>
              <a:t>mvmonteiro@hrrb.org.br</a:t>
            </a:r>
          </a:p>
        </p:txBody>
      </p:sp>
      <p:pic>
        <p:nvPicPr>
          <p:cNvPr id="9" name="Elemento gráfico 8" descr="Envelope" title="Ícone – Email do Apresentador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pic>
        <p:nvPicPr>
          <p:cNvPr id="11" name="Elemento gráfico 10" descr="Link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358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{313DE4E7-8280-4D9C-B243-61339D089B6E}TF992e0334-4647-4579-8d14-183019b0908c8e703a4f_win32-9313fc7c7087</Template>
  <TotalTime>33</TotalTime>
  <Words>519</Words>
  <Application>Microsoft Office PowerPoint</Application>
  <PresentationFormat>Widescreen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Candara</vt:lpstr>
      <vt:lpstr>Corbel</vt:lpstr>
      <vt:lpstr>Times New Roman</vt:lpstr>
      <vt:lpstr>Personalizado</vt:lpstr>
      <vt:lpstr>Como acessar os protocolos institucionais</vt:lpstr>
      <vt:lpstr>Nossa UTI</vt:lpstr>
      <vt:lpstr>Protocolos institucionais</vt:lpstr>
      <vt:lpstr>Plataforma INTERACT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Valini Monteiro</dc:creator>
  <cp:lastModifiedBy>Mariana Valini Monteiro</cp:lastModifiedBy>
  <cp:revision>1</cp:revision>
  <dcterms:created xsi:type="dcterms:W3CDTF">2026-01-14T16:10:39Z</dcterms:created>
  <dcterms:modified xsi:type="dcterms:W3CDTF">2026-01-14T16:44:20Z</dcterms:modified>
</cp:coreProperties>
</file>