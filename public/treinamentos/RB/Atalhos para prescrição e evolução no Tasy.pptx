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5"/>
  </p:notesMasterIdLst>
  <p:handoutMasterIdLst>
    <p:handoutMasterId r:id="rId16"/>
  </p:handoutMasterIdLst>
  <p:sldIdLst>
    <p:sldId id="410" r:id="rId5"/>
    <p:sldId id="383" r:id="rId6"/>
    <p:sldId id="411" r:id="rId7"/>
    <p:sldId id="412" r:id="rId8"/>
    <p:sldId id="413" r:id="rId9"/>
    <p:sldId id="414" r:id="rId10"/>
    <p:sldId id="415" r:id="rId11"/>
    <p:sldId id="416" r:id="rId12"/>
    <p:sldId id="417" r:id="rId13"/>
    <p:sldId id="398" r:id="rId14"/>
  </p:sldIdLst>
  <p:sldSz cx="12192000" cy="6858000"/>
  <p:notesSz cx="7008813" cy="9294813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6327" autoAdjust="0"/>
  </p:normalViewPr>
  <p:slideViewPr>
    <p:cSldViewPr snapToGrid="0">
      <p:cViewPr varScale="1">
        <p:scale>
          <a:sx n="111" d="100"/>
          <a:sy n="111" d="100"/>
        </p:scale>
        <p:origin x="588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394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039" y="0"/>
            <a:ext cx="3037152" cy="466355"/>
          </a:xfrm>
          <a:prstGeom prst="rect">
            <a:avLst/>
          </a:prstGeom>
        </p:spPr>
        <p:txBody>
          <a:bodyPr vert="horz" lIns="93159" tIns="46580" rIns="93159" bIns="46580" rtlCol="0"/>
          <a:lstStyle>
            <a:lvl1pPr algn="r">
              <a:defRPr lang="pt-BR" sz="1200"/>
            </a:lvl1pPr>
          </a:lstStyle>
          <a:p>
            <a:pPr rtl="0"/>
            <a:fld id="{2F41AB2A-FCB0-449C-94A2-E3FFDC5F192E}" type="datetime1">
              <a:rPr lang="pt-BR" smtClean="0"/>
              <a:t>14/01/2026</a:t>
            </a:fld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039" y="8828460"/>
            <a:ext cx="3037152" cy="466354"/>
          </a:xfrm>
          <a:prstGeom prst="rect">
            <a:avLst/>
          </a:prstGeom>
        </p:spPr>
        <p:txBody>
          <a:bodyPr vert="horz" lIns="93159" tIns="46580" rIns="93159" bIns="46580" rtlCol="0" anchor="b"/>
          <a:lstStyle>
            <a:lvl1pPr algn="r">
              <a:defRPr lang="pt-BR" sz="1200"/>
            </a:lvl1pPr>
          </a:lstStyle>
          <a:p>
            <a:pPr rtl="0"/>
            <a:fld id="{E2C230DF-5933-439D-898F-38E9AC9BA688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8460"/>
            <a:ext cx="3037152" cy="466354"/>
          </a:xfrm>
          <a:prstGeom prst="rect">
            <a:avLst/>
          </a:prstGeom>
        </p:spPr>
        <p:txBody>
          <a:bodyPr vert="horz" lIns="93159" tIns="46580" rIns="93159" bIns="4658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8" name="Espaço Reservado para Cabeçalho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52" cy="466355"/>
          </a:xfrm>
          <a:prstGeom prst="rect">
            <a:avLst/>
          </a:prstGeom>
        </p:spPr>
        <p:txBody>
          <a:bodyPr vert="horz" lIns="93159" tIns="46580" rIns="93159" bIns="4658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52" cy="466355"/>
          </a:xfrm>
          <a:prstGeom prst="rect">
            <a:avLst/>
          </a:prstGeom>
        </p:spPr>
        <p:txBody>
          <a:bodyPr vert="horz" lIns="93159" tIns="46580" rIns="93159" bIns="4658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70039" y="0"/>
            <a:ext cx="3037152" cy="466355"/>
          </a:xfrm>
          <a:prstGeom prst="rect">
            <a:avLst/>
          </a:prstGeom>
        </p:spPr>
        <p:txBody>
          <a:bodyPr vert="horz" lIns="93159" tIns="46580" rIns="93159" bIns="46580" rtlCol="0"/>
          <a:lstStyle>
            <a:lvl1pPr algn="r">
              <a:defRPr lang="pt-BR" sz="1200"/>
            </a:lvl1pPr>
          </a:lstStyle>
          <a:p>
            <a:fld id="{6F315709-B4D1-47A8-A516-AEABF47ED22D}" type="datetime1">
              <a:rPr lang="pt-BR" smtClean="0"/>
              <a:pPr/>
              <a:t>14/01/2026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80" rIns="93159" bIns="4658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700882" y="4473129"/>
            <a:ext cx="5607050" cy="3659833"/>
          </a:xfrm>
          <a:prstGeom prst="rect">
            <a:avLst/>
          </a:prstGeom>
        </p:spPr>
        <p:txBody>
          <a:bodyPr vert="horz" lIns="93159" tIns="46580" rIns="93159" bIns="4658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828460"/>
            <a:ext cx="3037152" cy="466354"/>
          </a:xfrm>
          <a:prstGeom prst="rect">
            <a:avLst/>
          </a:prstGeom>
        </p:spPr>
        <p:txBody>
          <a:bodyPr vert="horz" lIns="93159" tIns="46580" rIns="93159" bIns="4658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970039" y="8828460"/>
            <a:ext cx="3037152" cy="466354"/>
          </a:xfrm>
          <a:prstGeom prst="rect">
            <a:avLst/>
          </a:prstGeom>
        </p:spPr>
        <p:txBody>
          <a:bodyPr vert="horz" lIns="93159" tIns="46580" rIns="93159" bIns="46580" rtlCol="0" anchor="b"/>
          <a:lstStyle>
            <a:lvl1pPr algn="r">
              <a:defRPr lang="pt-BR" sz="1200"/>
            </a:lvl1pPr>
          </a:lstStyle>
          <a:p>
            <a:pPr rtl="0"/>
            <a:fld id="{A89C7E07-3C67-C64C-8DA0-0404F63039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pt-B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v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" name="Forma Liv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" name="Forma Liv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" name="Forma Liv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 spc="50" baseline="0"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pt-BR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pt-BR" sz="2000"/>
            </a:lvl2pPr>
            <a:lvl3pPr indent="-283464">
              <a:spcBef>
                <a:spcPts val="1800"/>
              </a:spcBef>
              <a:defRPr lang="pt-BR" sz="2000"/>
            </a:lvl3pPr>
            <a:lvl4pPr indent="-283464">
              <a:spcBef>
                <a:spcPts val="1800"/>
              </a:spcBef>
              <a:defRPr lang="pt-BR" sz="2000"/>
            </a:lvl4pPr>
            <a:lvl5pPr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3" name="Espaço Reservado para o Número do Slide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42" name="Espaço Reservado para Data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a seçã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pt-B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pt-B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8" name="Espaço Reservado para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pt-B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pt-BR" sz="4000"/>
            </a:lvl2pPr>
            <a:lvl3pPr>
              <a:defRPr lang="pt-BR" sz="4000"/>
            </a:lvl3pPr>
            <a:lvl4pPr>
              <a:defRPr lang="pt-BR" sz="4000"/>
            </a:lvl4pPr>
            <a:lvl5pPr>
              <a:defRPr lang="pt-BR" sz="40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upo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a Livre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Forma Livre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orma Livre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pt-BR" sz="2000"/>
            </a:lvl1pPr>
            <a:lvl2pPr indent="-283464">
              <a:spcBef>
                <a:spcPts val="1800"/>
              </a:spcBef>
              <a:defRPr lang="pt-BR" sz="2000"/>
            </a:lvl2pPr>
            <a:lvl3pPr indent="-283464">
              <a:spcBef>
                <a:spcPts val="1800"/>
              </a:spcBef>
              <a:defRPr lang="pt-BR" sz="2000"/>
            </a:lvl3pPr>
            <a:lvl4pPr indent="-283464">
              <a:spcBef>
                <a:spcPts val="1800"/>
              </a:spcBef>
              <a:defRPr lang="pt-BR" sz="2000"/>
            </a:lvl4pPr>
            <a:lvl5pPr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pt-B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v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Espaço Reservado para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pt-B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pt-BR" sz="4000"/>
            </a:lvl2pPr>
            <a:lvl3pPr>
              <a:defRPr lang="pt-BR" sz="4000"/>
            </a:lvl3pPr>
            <a:lvl4pPr>
              <a:defRPr lang="pt-BR" sz="4000"/>
            </a:lvl4pPr>
            <a:lvl5pPr>
              <a:defRPr lang="pt-BR" sz="40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Dois Conteúdo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v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orma Liv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4" name="Forma Liv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marL="283464" indent="-283464">
              <a:spcBef>
                <a:spcPts val="1800"/>
              </a:spcBef>
              <a:defRPr lang="pt-BR" sz="2000"/>
            </a:lvl2pPr>
            <a:lvl3pPr marL="594360" indent="-283464">
              <a:spcBef>
                <a:spcPts val="1800"/>
              </a:spcBef>
              <a:defRPr lang="pt-BR" sz="2000"/>
            </a:lvl3pPr>
            <a:lvl4pPr marL="822960" indent="-283464">
              <a:spcBef>
                <a:spcPts val="1800"/>
              </a:spcBef>
              <a:defRPr lang="pt-BR" sz="2000"/>
            </a:lvl4pPr>
            <a:lvl5pPr marL="1005840"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marL="283464" indent="-283464">
              <a:spcBef>
                <a:spcPts val="1800"/>
              </a:spcBef>
              <a:defRPr lang="pt-BR" sz="2000"/>
            </a:lvl2pPr>
            <a:lvl3pPr marL="548640" indent="-283464">
              <a:spcBef>
                <a:spcPts val="1800"/>
              </a:spcBef>
              <a:defRPr lang="pt-BR" sz="2000"/>
            </a:lvl3pPr>
            <a:lvl4pPr marL="822960" indent="-283464">
              <a:spcBef>
                <a:spcPts val="1800"/>
              </a:spcBef>
              <a:defRPr lang="pt-BR" sz="2000"/>
            </a:lvl4pPr>
            <a:lvl5pPr marL="1005840"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Forma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orma Liv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4" name="Forma Liv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8" name="Forma Liv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9" name="Forma Livre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pt-BR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pt-BR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pt-BR" sz="2000"/>
            </a:lvl3pPr>
            <a:lvl4pPr marL="1371600" indent="0">
              <a:spcBef>
                <a:spcPts val="1800"/>
              </a:spcBef>
              <a:buFont typeface="+mj-lt"/>
              <a:buNone/>
              <a:defRPr lang="pt-BR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endParaRPr lang="pt-BR" dirty="0"/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marL="283464" indent="-283464">
              <a:spcBef>
                <a:spcPts val="1800"/>
              </a:spcBef>
              <a:defRPr lang="pt-BR" sz="2000"/>
            </a:lvl2pPr>
            <a:lvl3pPr marL="548640" indent="-283464">
              <a:spcBef>
                <a:spcPts val="1800"/>
              </a:spcBef>
              <a:defRPr lang="pt-BR" sz="2000"/>
            </a:lvl3pPr>
            <a:lvl4pPr marL="822960" indent="-283464">
              <a:spcBef>
                <a:spcPts val="1800"/>
              </a:spcBef>
              <a:defRPr lang="pt-BR" sz="2000"/>
            </a:lvl4pPr>
            <a:lvl5pPr marL="1005840"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imagem do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indent="-283464">
              <a:spcBef>
                <a:spcPts val="1800"/>
              </a:spcBef>
              <a:defRPr lang="pt-BR" sz="2000"/>
            </a:lvl2pPr>
            <a:lvl3pPr indent="-283464">
              <a:spcBef>
                <a:spcPts val="1800"/>
              </a:spcBef>
              <a:defRPr lang="pt-BR" sz="2000"/>
            </a:lvl3pPr>
            <a:lvl4pPr indent="-283464">
              <a:spcBef>
                <a:spcPts val="1800"/>
              </a:spcBef>
              <a:defRPr lang="pt-BR" sz="2000"/>
            </a:lvl4pPr>
            <a:lvl5pPr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tabela do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a Liv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5" name="Forma Liv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7" name="Forma Livre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marL="457200" indent="0">
              <a:spcBef>
                <a:spcPts val="1800"/>
              </a:spcBef>
              <a:buNone/>
              <a:defRPr lang="pt-BR" sz="2000"/>
            </a:lvl2pPr>
            <a:lvl3pPr marL="914400" indent="0">
              <a:spcBef>
                <a:spcPts val="1800"/>
              </a:spcBef>
              <a:buNone/>
              <a:defRPr lang="pt-BR" sz="2000"/>
            </a:lvl3pPr>
            <a:lvl4pPr marL="1371600" indent="0">
              <a:spcBef>
                <a:spcPts val="1800"/>
              </a:spcBef>
              <a:buNone/>
              <a:defRPr lang="pt-BR" sz="2000"/>
            </a:lvl4pPr>
            <a:lvl5pPr marL="1828800" indent="0">
              <a:spcBef>
                <a:spcPts val="1800"/>
              </a:spcBef>
              <a:buNone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pt-BR" sz="2000"/>
            </a:lvl1pPr>
            <a:lvl2pPr>
              <a:spcBef>
                <a:spcPts val="600"/>
              </a:spcBef>
              <a:defRPr lang="pt-BR" sz="2000"/>
            </a:lvl2pPr>
            <a:lvl3pPr>
              <a:spcBef>
                <a:spcPts val="1800"/>
              </a:spcBef>
              <a:defRPr lang="pt-BR" sz="2000"/>
            </a:lvl3pPr>
            <a:lvl4pPr>
              <a:spcBef>
                <a:spcPts val="1800"/>
              </a:spcBef>
              <a:defRPr lang="pt-BR" sz="2000"/>
            </a:lvl4pPr>
            <a:lvl5pPr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Dois Conteúd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v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orma Liv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4" name="Forma Liv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pt-BR" sz="2000"/>
            </a:lvl1pPr>
            <a:lvl2pPr>
              <a:spcBef>
                <a:spcPts val="600"/>
              </a:spcBef>
              <a:defRPr lang="pt-BR" sz="2000"/>
            </a:lvl2pPr>
            <a:lvl3pPr>
              <a:spcBef>
                <a:spcPts val="1800"/>
              </a:spcBef>
              <a:defRPr lang="pt-BR" sz="2000"/>
            </a:lvl3pPr>
            <a:lvl4pPr>
              <a:spcBef>
                <a:spcPts val="1800"/>
              </a:spcBef>
              <a:defRPr lang="pt-BR" sz="2000"/>
            </a:lvl4pPr>
            <a:lvl5pPr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 dirty="0"/>
              <a:t>Clique para adicionar conteúdo</a:t>
            </a:r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pt-BR" sz="2000"/>
            </a:lvl1pPr>
            <a:lvl2pPr>
              <a:spcBef>
                <a:spcPts val="1800"/>
              </a:spcBef>
              <a:defRPr lang="pt-BR" sz="2000"/>
            </a:lvl2pPr>
            <a:lvl3pPr>
              <a:spcBef>
                <a:spcPts val="1800"/>
              </a:spcBef>
              <a:defRPr lang="pt-BR" sz="2000"/>
            </a:lvl3pPr>
            <a:lvl4pPr>
              <a:spcBef>
                <a:spcPts val="1800"/>
              </a:spcBef>
              <a:defRPr lang="pt-BR" sz="2000"/>
            </a:lvl4pPr>
            <a:lvl5pPr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9" name="Espaço Reservado para Tabela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pt-BR"/>
            </a:lvl1pPr>
          </a:lstStyle>
          <a:p>
            <a:pPr rtl="0"/>
            <a:r>
              <a:rPr lang="pt-BR"/>
              <a:t>Clique no ícone para adicionar tabela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pt-B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a Liv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8" name="Espaço Reservado para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pt-B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pt-BR" sz="4000"/>
            </a:lvl2pPr>
            <a:lvl3pPr>
              <a:defRPr lang="pt-BR" sz="4000"/>
            </a:lvl3pPr>
            <a:lvl4pPr>
              <a:defRPr lang="pt-BR" sz="4000"/>
            </a:lvl4pPr>
            <a:lvl5pPr>
              <a:defRPr lang="pt-BR" sz="40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2" name="Espaço Reservado para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0" name="Espaço Reservado para Dat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pt-BR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pt-BR" dirty="0">
              <a:latin typeface="+mn-lt"/>
            </a:endParaRPr>
          </a:p>
        </p:txBody>
      </p:sp>
      <p:sp>
        <p:nvSpPr>
          <p:cNvPr id="32" name="Espaço Reservado para o Número do Slide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pt-BR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pt-BR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pt-BR">
          <a:solidFill>
            <a:schemeClr val="tx2"/>
          </a:solidFill>
        </a:defRPr>
      </a:lvl2pPr>
      <a:lvl3pPr eaLnBrk="1" hangingPunct="1">
        <a:defRPr lang="pt-BR">
          <a:solidFill>
            <a:schemeClr val="tx2"/>
          </a:solidFill>
        </a:defRPr>
      </a:lvl3pPr>
      <a:lvl4pPr eaLnBrk="1" hangingPunct="1">
        <a:defRPr lang="pt-BR">
          <a:solidFill>
            <a:schemeClr val="tx2"/>
          </a:solidFill>
        </a:defRPr>
      </a:lvl4pPr>
      <a:lvl5pPr eaLnBrk="1" hangingPunct="1">
        <a:defRPr lang="pt-BR">
          <a:solidFill>
            <a:schemeClr val="tx2"/>
          </a:solidFill>
        </a:defRPr>
      </a:lvl5pPr>
      <a:lvl6pPr eaLnBrk="1" hangingPunct="1">
        <a:defRPr lang="pt-BR">
          <a:solidFill>
            <a:schemeClr val="tx2"/>
          </a:solidFill>
        </a:defRPr>
      </a:lvl6pPr>
      <a:lvl7pPr eaLnBrk="1" hangingPunct="1">
        <a:defRPr lang="pt-BR">
          <a:solidFill>
            <a:schemeClr val="tx2"/>
          </a:solidFill>
        </a:defRPr>
      </a:lvl7pPr>
      <a:lvl8pPr eaLnBrk="1" hangingPunct="1">
        <a:defRPr lang="pt-BR">
          <a:solidFill>
            <a:schemeClr val="tx2"/>
          </a:solidFill>
        </a:defRPr>
      </a:lvl8pPr>
      <a:lvl9pPr eaLnBrk="1" hangingPunct="1">
        <a:defRPr lang="pt-BR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6165" y="768626"/>
            <a:ext cx="5486400" cy="3053962"/>
          </a:xfrm>
        </p:spPr>
        <p:txBody>
          <a:bodyPr rtlCol="0"/>
          <a:lstStyle>
            <a:defPPr>
              <a:defRPr lang="pt-BR"/>
            </a:defPPr>
          </a:lstStyle>
          <a:p>
            <a:pPr rtl="0">
              <a:lnSpc>
                <a:spcPct val="100000"/>
              </a:lnSpc>
            </a:pPr>
            <a:r>
              <a:rPr lang="pt-BR" dirty="0"/>
              <a:t>Atalhos para prescrição e evolução no </a:t>
            </a:r>
            <a:r>
              <a:rPr lang="pt-BR" dirty="0" err="1"/>
              <a:t>Tasy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Agenda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 rtlCol="0"/>
          <a:lstStyle>
            <a:defPPr>
              <a:defRPr lang="pt-BR"/>
            </a:defPPr>
          </a:lstStyle>
          <a:p>
            <a:pPr rtl="0"/>
            <a:r>
              <a:rPr lang="pt-BR" dirty="0"/>
              <a:t>Solicitação de exames e exames de rotina</a:t>
            </a:r>
          </a:p>
          <a:p>
            <a:pPr rtl="0"/>
            <a:r>
              <a:rPr lang="pt-BR" dirty="0"/>
              <a:t>Prescrição de soluções padronizadas</a:t>
            </a:r>
          </a:p>
          <a:p>
            <a:pPr rtl="0"/>
            <a:r>
              <a:rPr lang="pt-BR" dirty="0"/>
              <a:t>Admissão e Evolução</a:t>
            </a:r>
          </a:p>
          <a:p>
            <a:pPr rtl="0"/>
            <a:r>
              <a:rPr lang="pt-BR" dirty="0"/>
              <a:t>Passagem de plantão </a:t>
            </a:r>
          </a:p>
          <a:p>
            <a:pPr rtl="0"/>
            <a:r>
              <a:rPr lang="pt-BR" dirty="0"/>
              <a:t>Ramais importantes</a:t>
            </a:r>
          </a:p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C3749A-F849-EE84-9220-4BED6DECE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Prescrição </a:t>
            </a:r>
          </a:p>
        </p:txBody>
      </p:sp>
      <p:pic>
        <p:nvPicPr>
          <p:cNvPr id="5" name="Espaço Reservado para Conteúdo 4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D5BA76F7-CCF9-E06C-6A73-93CD7BB68A2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251" y="2281238"/>
            <a:ext cx="7075198" cy="3700462"/>
          </a:xfr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2DE0F22C-9984-5345-FF55-59003A38D1C9}"/>
              </a:ext>
            </a:extLst>
          </p:cNvPr>
          <p:cNvSpPr txBox="1"/>
          <p:nvPr/>
        </p:nvSpPr>
        <p:spPr>
          <a:xfrm>
            <a:off x="9062525" y="942977"/>
            <a:ext cx="2405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Em prescrição, ir em:</a:t>
            </a:r>
          </a:p>
          <a:p>
            <a:r>
              <a:rPr lang="pt-BR" dirty="0">
                <a:solidFill>
                  <a:srgbClr val="C00000"/>
                </a:solidFill>
              </a:rPr>
              <a:t> “inserir novo” e depois “rotina” </a:t>
            </a:r>
          </a:p>
        </p:txBody>
      </p:sp>
    </p:spTree>
    <p:extLst>
      <p:ext uri="{BB962C8B-B14F-4D97-AF65-F5344CB8AC3E}">
        <p14:creationId xmlns:p14="http://schemas.microsoft.com/office/powerpoint/2010/main" val="4229626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4542C-C6F6-D53D-3709-5DB837DC8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33DA64-43FC-2257-6BB2-CF80D663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Prescrição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47970EC-C5B4-184A-4981-ECA6D72F07F4}"/>
              </a:ext>
            </a:extLst>
          </p:cNvPr>
          <p:cNvSpPr txBox="1"/>
          <p:nvPr/>
        </p:nvSpPr>
        <p:spPr>
          <a:xfrm>
            <a:off x="5728482" y="1238399"/>
            <a:ext cx="2405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Em “Rotina”, ir em:</a:t>
            </a:r>
          </a:p>
          <a:p>
            <a:r>
              <a:rPr lang="pt-BR" dirty="0">
                <a:solidFill>
                  <a:srgbClr val="C00000"/>
                </a:solidFill>
              </a:rPr>
              <a:t> “SOLUÇÕES” </a:t>
            </a:r>
          </a:p>
        </p:txBody>
      </p:sp>
      <p:pic>
        <p:nvPicPr>
          <p:cNvPr id="12" name="Espaço Reservado para Conteúdo 11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EC4738B0-C720-E23B-E41A-AEF5A785D3D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043" y="2281238"/>
            <a:ext cx="8243668" cy="3700462"/>
          </a:xfrm>
        </p:spPr>
      </p:pic>
    </p:spTree>
    <p:extLst>
      <p:ext uri="{BB962C8B-B14F-4D97-AF65-F5344CB8AC3E}">
        <p14:creationId xmlns:p14="http://schemas.microsoft.com/office/powerpoint/2010/main" val="2447624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FB868-0079-C004-11D3-3C622022A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2972F9-D002-214A-56E3-D5E7EE925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Prescrição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C0301B9-811A-895D-D7EE-F1878D0575E8}"/>
              </a:ext>
            </a:extLst>
          </p:cNvPr>
          <p:cNvSpPr txBox="1"/>
          <p:nvPr/>
        </p:nvSpPr>
        <p:spPr>
          <a:xfrm>
            <a:off x="4853354" y="591285"/>
            <a:ext cx="52827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Em “Rotina”, ir em:</a:t>
            </a:r>
          </a:p>
          <a:p>
            <a:r>
              <a:rPr lang="pt-BR" dirty="0">
                <a:solidFill>
                  <a:srgbClr val="C00000"/>
                </a:solidFill>
              </a:rPr>
              <a:t> “exames laboratoriais” . Selecionar os exames que gostaria e se for para a rotina do dia seguinte não esquecer de selecionar “NO DIA SEGUINTE” e “ EXAMES E PROCEDIMENTOS DE ROTINA DA UTI” </a:t>
            </a:r>
          </a:p>
        </p:txBody>
      </p:sp>
      <p:pic>
        <p:nvPicPr>
          <p:cNvPr id="6" name="Espaço Reservado para Conteúdo 5" descr="Interface gráfica do usuário, Texto, Site&#10;&#10;O conteúdo gerado por IA pode estar incorreto.">
            <a:extLst>
              <a:ext uri="{FF2B5EF4-FFF2-40B4-BE49-F238E27FC236}">
                <a16:creationId xmlns:a16="http://schemas.microsoft.com/office/drawing/2014/main" id="{907BFDC1-B7EA-BF60-BE96-2728B4CACD8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434" y="2566253"/>
            <a:ext cx="8260666" cy="3700462"/>
          </a:xfrm>
        </p:spPr>
      </p:pic>
    </p:spTree>
    <p:extLst>
      <p:ext uri="{BB962C8B-B14F-4D97-AF65-F5344CB8AC3E}">
        <p14:creationId xmlns:p14="http://schemas.microsoft.com/office/powerpoint/2010/main" val="63463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1A413-D179-C024-E778-495D72DD3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9C564D-F938-0FAF-6AA4-C6DCBCF67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Admissão e Evolução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FA02245-0B38-BAE3-C3B2-1DF9257675E8}"/>
              </a:ext>
            </a:extLst>
          </p:cNvPr>
          <p:cNvSpPr txBox="1"/>
          <p:nvPr/>
        </p:nvSpPr>
        <p:spPr>
          <a:xfrm>
            <a:off x="6314929" y="697339"/>
            <a:ext cx="52827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Em “EVOLUÇÃO”, adicionar “ NOTA CLINICA” . </a:t>
            </a:r>
          </a:p>
          <a:p>
            <a:r>
              <a:rPr lang="pt-BR" dirty="0">
                <a:solidFill>
                  <a:srgbClr val="C00000"/>
                </a:solidFill>
              </a:rPr>
              <a:t>Em “TIPO de NOTA CLINICA” escolher “EVOLUÇÃO MÉDICA” . Com o botão direito do mouse escolher “INSERIR TEXTO PADRÃO”  </a:t>
            </a:r>
          </a:p>
        </p:txBody>
      </p:sp>
      <p:pic>
        <p:nvPicPr>
          <p:cNvPr id="12" name="Espaço Reservado para Conteúdo 11" descr="Interface gráfica do usuário, Aplicativo, Word&#10;&#10;O conteúdo gerado por IA pode estar incorreto.">
            <a:extLst>
              <a:ext uri="{FF2B5EF4-FFF2-40B4-BE49-F238E27FC236}">
                <a16:creationId xmlns:a16="http://schemas.microsoft.com/office/drawing/2014/main" id="{22609463-3DBF-92EC-FF6A-0838C6EEE93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268" y="2281238"/>
            <a:ext cx="8609427" cy="4189900"/>
          </a:xfrm>
        </p:spPr>
      </p:pic>
    </p:spTree>
    <p:extLst>
      <p:ext uri="{BB962C8B-B14F-4D97-AF65-F5344CB8AC3E}">
        <p14:creationId xmlns:p14="http://schemas.microsoft.com/office/powerpoint/2010/main" val="3172402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8EF0B-B01D-78F0-9353-CF49D155E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70FCE-8093-EAF0-8F20-153C22E53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Admissão e Evolução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B29E485-A09C-E2B9-CF32-BC6B38168F29}"/>
              </a:ext>
            </a:extLst>
          </p:cNvPr>
          <p:cNvSpPr txBox="1"/>
          <p:nvPr/>
        </p:nvSpPr>
        <p:spPr>
          <a:xfrm>
            <a:off x="6314929" y="697339"/>
            <a:ext cx="52827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Escolher entre as opções: “ADMISSÃO PACIENTE CIRURGICO (UTI)”, “ ADMISSÃO PACIENTE CLINICO (UTI), ou “EVOLUÇÃO MÉDICA (UTI) </a:t>
            </a:r>
          </a:p>
        </p:txBody>
      </p:sp>
      <p:pic>
        <p:nvPicPr>
          <p:cNvPr id="6" name="Espaço Reservado para Conteúdo 5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299B1280-F1EA-0FFF-D685-59E58476FA5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815" y="2281238"/>
            <a:ext cx="9144000" cy="4105494"/>
          </a:xfrm>
        </p:spPr>
      </p:pic>
    </p:spTree>
    <p:extLst>
      <p:ext uri="{BB962C8B-B14F-4D97-AF65-F5344CB8AC3E}">
        <p14:creationId xmlns:p14="http://schemas.microsoft.com/office/powerpoint/2010/main" val="1513584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5DFBB-8596-C2C2-F328-90343FCB1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B8185E-FDF1-7AD7-4087-2D7C3121A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Passagem de plantão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9AC8CE2-8365-30C6-4C9F-4F8A63E0CA70}"/>
              </a:ext>
            </a:extLst>
          </p:cNvPr>
          <p:cNvSpPr txBox="1"/>
          <p:nvPr/>
        </p:nvSpPr>
        <p:spPr>
          <a:xfrm>
            <a:off x="6314929" y="697339"/>
            <a:ext cx="5282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Na árvore do </a:t>
            </a:r>
            <a:r>
              <a:rPr lang="pt-BR" dirty="0" err="1">
                <a:solidFill>
                  <a:srgbClr val="C00000"/>
                </a:solidFill>
              </a:rPr>
              <a:t>Tasy</a:t>
            </a:r>
            <a:r>
              <a:rPr lang="pt-BR" dirty="0">
                <a:solidFill>
                  <a:srgbClr val="C00000"/>
                </a:solidFill>
              </a:rPr>
              <a:t> (Lado esquerdo) ir em “OUTROS” e “PASSAGEM DE TURNO”</a:t>
            </a:r>
          </a:p>
        </p:txBody>
      </p:sp>
      <p:pic>
        <p:nvPicPr>
          <p:cNvPr id="7" name="Espaço Reservado para Conteúdo 6" descr="Interface gráfica do usuário, Aplicativo, Word&#10;&#10;O conteúdo gerado por IA pode estar incorreto.">
            <a:extLst>
              <a:ext uri="{FF2B5EF4-FFF2-40B4-BE49-F238E27FC236}">
                <a16:creationId xmlns:a16="http://schemas.microsoft.com/office/drawing/2014/main" id="{C8219220-7AF0-C0D9-6A24-F99DD1A8804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46" y="2281238"/>
            <a:ext cx="7823183" cy="3700462"/>
          </a:xfrm>
        </p:spPr>
      </p:pic>
    </p:spTree>
    <p:extLst>
      <p:ext uri="{BB962C8B-B14F-4D97-AF65-F5344CB8AC3E}">
        <p14:creationId xmlns:p14="http://schemas.microsoft.com/office/powerpoint/2010/main" val="1633127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22660-D66B-B9E2-841E-2A25DBFD8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E959F-AAB9-9FA3-34CB-94C4BED55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Passagem de plantão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122ED9A-7F85-78F5-44AD-F72D33FE0BDE}"/>
              </a:ext>
            </a:extLst>
          </p:cNvPr>
          <p:cNvSpPr txBox="1"/>
          <p:nvPr/>
        </p:nvSpPr>
        <p:spPr>
          <a:xfrm>
            <a:off x="6314929" y="697339"/>
            <a:ext cx="52827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Escolher a passagem de plantão do seu posto e com o botão direito selecionar: “DUPLICAR PASSAGEM DE TURNO” , atualizar as informações e “LIBERAR”</a:t>
            </a:r>
          </a:p>
        </p:txBody>
      </p:sp>
      <p:pic>
        <p:nvPicPr>
          <p:cNvPr id="12" name="Espaço Reservado para Conteúdo 11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115CC917-2205-CDE2-6305-9F7630CE9DA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560" y="2281238"/>
            <a:ext cx="8693833" cy="3700462"/>
          </a:xfrm>
        </p:spPr>
      </p:pic>
    </p:spTree>
    <p:extLst>
      <p:ext uri="{BB962C8B-B14F-4D97-AF65-F5344CB8AC3E}">
        <p14:creationId xmlns:p14="http://schemas.microsoft.com/office/powerpoint/2010/main" val="1486885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Ramais importantes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Enfermaria CM: 1162 e 1375</a:t>
            </a:r>
          </a:p>
          <a:p>
            <a:pPr rtl="0"/>
            <a:r>
              <a:rPr lang="pt-BR" dirty="0"/>
              <a:t>Ortopedia 1119 (ou CC)</a:t>
            </a:r>
          </a:p>
          <a:p>
            <a:pPr rtl="0"/>
            <a:r>
              <a:rPr lang="pt-BR" dirty="0"/>
              <a:t>Cirurgia: 1171 (ou CC) </a:t>
            </a:r>
          </a:p>
          <a:p>
            <a:pPr rtl="0"/>
            <a:r>
              <a:rPr lang="pt-BR" dirty="0"/>
              <a:t>Suporte T.I.: 11 915431754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89_TF78853419_Win32" id="{854A30D2-9E34-488C-9C98-B452D2CBAD89}" vid="{DA39436B-3821-44D5-9B65-C78155AED97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purl.org/dc/terms/"/>
    <ds:schemaRef ds:uri="http://schemas.microsoft.com/office/2006/metadata/properties"/>
    <ds:schemaRef ds:uri="16c05727-aa75-4e4a-9b5f-8a80a1165891"/>
    <ds:schemaRef ds:uri="http://schemas.microsoft.com/sharepoint/v3"/>
    <ds:schemaRef ds:uri="http://purl.org/dc/elements/1.1/"/>
    <ds:schemaRef ds:uri="http://www.w3.org/XML/1998/namespace"/>
    <ds:schemaRef ds:uri="http://schemas.microsoft.com/office/2006/documentManagement/types"/>
    <ds:schemaRef ds:uri="230e9df3-be65-4c73-a93b-d1236ebd677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{4AEFFBE0-3812-4BA5-9C7E-B616B13F5350}TFd3b75063-ff25-434d-b12c-efeaf07d16c313a04d44_win32-67ca2883bb17</Template>
  <TotalTime>77</TotalTime>
  <Words>255</Words>
  <Application>Microsoft Office PowerPoint</Application>
  <PresentationFormat>Widescreen</PresentationFormat>
  <Paragraphs>33</Paragraphs>
  <Slides>10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Franklin Gothic Book</vt:lpstr>
      <vt:lpstr>Franklin Gothic Demi</vt:lpstr>
      <vt:lpstr>Personalizado</vt:lpstr>
      <vt:lpstr>Atalhos para prescrição e evolução no Tasy</vt:lpstr>
      <vt:lpstr>Agenda</vt:lpstr>
      <vt:lpstr>Prescrição </vt:lpstr>
      <vt:lpstr>Prescrição </vt:lpstr>
      <vt:lpstr>Prescrição </vt:lpstr>
      <vt:lpstr>Admissão e Evolução </vt:lpstr>
      <vt:lpstr>Admissão e Evolução </vt:lpstr>
      <vt:lpstr>Passagem de plantão</vt:lpstr>
      <vt:lpstr>Passagem de plantão</vt:lpstr>
      <vt:lpstr>Ramais importantes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Mariana Valini Monteiro</dc:creator>
  <cp:lastModifiedBy>Mariana Valini Monteiro</cp:lastModifiedBy>
  <cp:revision>1</cp:revision>
  <cp:lastPrinted>2026-01-14T15:55:15Z</cp:lastPrinted>
  <dcterms:created xsi:type="dcterms:W3CDTF">2026-01-14T14:53:14Z</dcterms:created>
  <dcterms:modified xsi:type="dcterms:W3CDTF">2026-01-14T16:10:22Z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